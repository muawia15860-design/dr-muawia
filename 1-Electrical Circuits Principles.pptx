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8" r:id="rId3"/>
    <p:sldId id="257" r:id="rId4"/>
    <p:sldId id="259" r:id="rId5"/>
    <p:sldId id="279" r:id="rId6"/>
    <p:sldId id="265" r:id="rId7"/>
    <p:sldId id="272" r:id="rId8"/>
    <p:sldId id="260" r:id="rId9"/>
    <p:sldId id="267" r:id="rId10"/>
    <p:sldId id="268" r:id="rId11"/>
    <p:sldId id="277" r:id="rId12"/>
    <p:sldId id="269" r:id="rId13"/>
    <p:sldId id="270" r:id="rId14"/>
    <p:sldId id="273" r:id="rId15"/>
    <p:sldId id="280" r:id="rId16"/>
    <p:sldId id="283" r:id="rId17"/>
    <p:sldId id="281" r:id="rId18"/>
    <p:sldId id="282" r:id="rId19"/>
    <p:sldId id="278" r:id="rId20"/>
    <p:sldId id="274" r:id="rId21"/>
    <p:sldId id="275" r:id="rId22"/>
    <p:sldId id="271" r:id="rId23"/>
    <p:sldId id="290" r:id="rId24"/>
    <p:sldId id="284" r:id="rId25"/>
    <p:sldId id="291" r:id="rId26"/>
    <p:sldId id="285" r:id="rId27"/>
    <p:sldId id="286" r:id="rId28"/>
    <p:sldId id="287" r:id="rId29"/>
    <p:sldId id="288" r:id="rId30"/>
    <p:sldId id="289" r:id="rId31"/>
    <p:sldId id="294" r:id="rId32"/>
    <p:sldId id="29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E4448-43FC-4FD9-BB2F-FBCF064F0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6741D-BBD5-4416-9A0D-7981A994F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4175B-987F-4137-9E33-D078D9F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8A60D-AF98-4184-B0E3-15213E2C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90ECA-B852-48C9-B564-AFB98FF8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298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A552-28D7-4063-BEA1-AA95D4AD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F5E7F-5C74-47AB-AB9F-054A3CFF7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074A8-0812-4682-BBC3-4A438057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B8632-F651-44F4-927B-9AAA0DAA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FB66-C080-487C-83A0-9C637E93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40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CAD0F-3307-4F11-ABD5-3E3D627FA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F4294-1690-4D0F-96A2-5A9622A71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BB69E-19A0-4EFA-8E0D-B22ACD38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02F38-F935-4BC1-B028-A3F06DC5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6B77-8177-4FBA-850B-43C5A780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7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2767-0A27-4AEE-89EA-A82A78FB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CF89C-282E-4056-B116-C0B07CAD1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1AC1C-A10B-4190-A1D9-831467530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8D87D-8813-4669-B3A1-ED0615CF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03750-5D6E-4D5C-B93F-A028269C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14B4-7576-49A9-A4E1-D002AFCC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7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1E95-8F5E-4074-9E6D-745F73B9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D4791-5E7C-4715-A751-3BC53AA64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24657-BE84-43EC-9CB3-11CBF09DF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5E0CB-3436-4BF4-9A38-8200E6C41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B96A8-4723-4F42-AB35-8886ECDD3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37221-449B-488E-8D28-883B8CD7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D7053-E2D9-4A74-932D-9CAAE96A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4AA9A2-4037-47D7-96B8-4F528AFE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0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F5EBE-F607-41C5-A329-6010ADF2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8EB4E2-5D9C-4B81-9FEA-6E9077D0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6693A-4C9B-49C8-889B-9F4DE1FB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15503-C310-4C30-9E28-C02B6063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63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129A74-EF80-412C-B0E2-E4894040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D9136-935D-4CC0-9065-901FA671B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03656-447E-4A85-B2BF-D3226782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892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D85F-FFCE-4DBC-8FA6-3C616190D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8BC0B-C14E-492F-B15C-CE1B0C441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FE368-E16D-4EFE-A1C2-B9933DF9C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0A673-CF22-4249-9560-096183EC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68146-C2DB-4A09-8DC6-5F4068EA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3F778-3BF5-4310-8CA6-8EFB6BF4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1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622A-B62A-4E6C-9C06-0F1A6D2B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91428A-24D3-4337-997D-098E0A3E5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855F0-C50C-4DB1-8583-0DB5F022B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399A7-3D3D-487E-85D9-80FA2B73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9E5B0-B2A9-4FD3-B4A8-38DF6946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BD330-B5E1-4097-A806-00920CB2D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67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29A45-1F22-49E8-ADFF-751AEFBC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25144-2C21-48D8-AEFB-25F4C5B06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44F1D-7C39-47B8-90A0-5925D288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968DE-AF7F-4051-979F-F86BE615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AA8E2-A694-4C4C-9C24-A0832721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12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DBA4D9-3825-4C43-A4F5-396E84CE2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B90DA-C35D-44DE-B499-DAED173B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C56D6-DEB9-4AC8-959B-10191537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FE0F8-D1BD-4FC5-8DB0-CA587975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64554-9ACF-4231-9179-27BE3BB9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52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9DC1A-B7E8-43E3-A9B2-09D3A7D74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5D428-EA6A-4742-9CDB-DF2A7E93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83FE5-7B97-4411-8CDE-9680C9D55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EFEE9-CBC9-44EF-BA00-978D32070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F13DC-3E6C-4CEE-A6FC-8DCC7FF69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98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7" Type="http://schemas.microsoft.com/office/2007/relationships/hdphoto" Target="../media/hdphoto10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microsoft.com/office/2007/relationships/hdphoto" Target="../media/hdphoto9.wdp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15.wdp"/><Relationship Id="rId7" Type="http://schemas.microsoft.com/office/2007/relationships/hdphoto" Target="../media/hdphoto1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microsoft.com/office/2007/relationships/hdphoto" Target="../media/hdphoto19.wdp"/><Relationship Id="rId5" Type="http://schemas.microsoft.com/office/2007/relationships/hdphoto" Target="../media/hdphoto16.wdp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microsoft.com/office/2007/relationships/hdphoto" Target="../media/hdphoto18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hdphoto" Target="../media/hdphoto20.wdp"/><Relationship Id="rId7" Type="http://schemas.microsoft.com/office/2007/relationships/hdphoto" Target="../media/hdphoto2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microsoft.com/office/2007/relationships/hdphoto" Target="../media/hdphoto21.wdp"/><Relationship Id="rId4" Type="http://schemas.openxmlformats.org/officeDocument/2006/relationships/image" Target="../media/image24.png"/><Relationship Id="rId9" Type="http://schemas.microsoft.com/office/2007/relationships/hdphoto" Target="../media/hdphoto19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4.wdp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7" Type="http://schemas.microsoft.com/office/2007/relationships/hdphoto" Target="../media/hdphoto19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microsoft.com/office/2007/relationships/hdphoto" Target="../media/hdphoto26.wdp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7" Type="http://schemas.microsoft.com/office/2007/relationships/hdphoto" Target="../media/hdphoto29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microsoft.com/office/2007/relationships/hdphoto" Target="../media/hdphoto28.wdp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0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1.wdp"/><Relationship Id="rId7" Type="http://schemas.microsoft.com/office/2007/relationships/hdphoto" Target="../media/hdphoto3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microsoft.com/office/2007/relationships/hdphoto" Target="../media/hdphoto32.wdp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5.wdp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9.png"/><Relationship Id="rId3" Type="http://schemas.microsoft.com/office/2007/relationships/hdphoto" Target="../media/hdphoto36.wdp"/><Relationship Id="rId7" Type="http://schemas.microsoft.com/office/2007/relationships/hdphoto" Target="../media/hdphoto38.wdp"/><Relationship Id="rId12" Type="http://schemas.microsoft.com/office/2007/relationships/hdphoto" Target="../media/hdphoto40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48.png"/><Relationship Id="rId5" Type="http://schemas.microsoft.com/office/2007/relationships/hdphoto" Target="../media/hdphoto37.wdp"/><Relationship Id="rId10" Type="http://schemas.microsoft.com/office/2007/relationships/hdphoto" Target="../media/hdphoto39.wdp"/><Relationship Id="rId4" Type="http://schemas.openxmlformats.org/officeDocument/2006/relationships/image" Target="../media/image44.png"/><Relationship Id="rId9" Type="http://schemas.openxmlformats.org/officeDocument/2006/relationships/image" Target="../media/image47.png"/><Relationship Id="rId14" Type="http://schemas.microsoft.com/office/2007/relationships/hdphoto" Target="../media/hdphoto41.wdp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42.wdp"/><Relationship Id="rId7" Type="http://schemas.microsoft.com/office/2007/relationships/hdphoto" Target="../media/hdphoto44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microsoft.com/office/2007/relationships/hdphoto" Target="../media/hdphoto43.wdp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5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6.wdp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47.wdp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8.wdp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49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microsoft.com/office/2007/relationships/hdphoto" Target="../media/hdphoto50.wdp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51.wdp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52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5DCD-2FAD-4D1B-A50C-032F85449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2300"/>
            <a:ext cx="9144000" cy="23876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/>
              <a:t>Electric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38E25-D4C3-414F-B96F-65CCADB567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Dr. Muawia Mahmoud</a:t>
            </a:r>
          </a:p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mamahmoud@fbsu.edu.sa</a:t>
            </a:r>
          </a:p>
        </p:txBody>
      </p:sp>
    </p:spTree>
    <p:extLst>
      <p:ext uri="{BB962C8B-B14F-4D97-AF65-F5344CB8AC3E}">
        <p14:creationId xmlns:p14="http://schemas.microsoft.com/office/powerpoint/2010/main" val="281539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C2BE-BA13-4513-B545-ACB6BF2FA856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19050"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Text book, and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4A817-5AC2-4531-877C-F323662BF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C.L Wadhwa, Basic Electrical Engineering, New age publishing, 2007</a:t>
            </a:r>
          </a:p>
          <a:p>
            <a:endParaRPr lang="en-US" dirty="0"/>
          </a:p>
          <a:p>
            <a:r>
              <a:rPr lang="en-US" dirty="0"/>
              <a:t>Charles J. Alexander, Sadiku, Fundamentals of Electric Circuits, 4</a:t>
            </a:r>
            <a:r>
              <a:rPr lang="en-US" baseline="30000" dirty="0"/>
              <a:t>th</a:t>
            </a:r>
            <a:r>
              <a:rPr lang="en-US" dirty="0"/>
              <a:t>,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McGraw-Hill, 2009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27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07EFF1-6A97-4945-A39C-F618C4271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3838" y="1110079"/>
            <a:ext cx="11744324" cy="44483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551185-6567-4D16-A2DA-C0558FB67919}"/>
              </a:ext>
            </a:extLst>
          </p:cNvPr>
          <p:cNvSpPr txBox="1"/>
          <p:nvPr/>
        </p:nvSpPr>
        <p:spPr>
          <a:xfrm>
            <a:off x="4794647" y="402193"/>
            <a:ext cx="3050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DC Circuits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7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906AAE-005D-48FC-924A-424CB5EEDCC4}"/>
              </a:ext>
            </a:extLst>
          </p:cNvPr>
          <p:cNvSpPr txBox="1"/>
          <p:nvPr/>
        </p:nvSpPr>
        <p:spPr>
          <a:xfrm>
            <a:off x="3679031" y="415409"/>
            <a:ext cx="4407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baseline="0" dirty="0">
                <a:latin typeface="Fd65735-Identity-H"/>
              </a:rPr>
              <a:t>ELECTRIC Current CURRENT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E61DA-B64F-4135-9241-B81695F42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8625" y="1061740"/>
            <a:ext cx="11077707" cy="3452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4FC639-9A01-4407-994D-460B19624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6368" y="4514689"/>
            <a:ext cx="6600356" cy="10714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3A7B6E-96D5-4F00-A4EE-C7C301E164B1}"/>
              </a:ext>
            </a:extLst>
          </p:cNvPr>
          <p:cNvSpPr txBox="1"/>
          <p:nvPr/>
        </p:nvSpPr>
        <p:spPr>
          <a:xfrm>
            <a:off x="2432448" y="5696720"/>
            <a:ext cx="6093618" cy="46166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F0F0F"/>
                </a:solidFill>
                <a:latin typeface="Fd1200752-Identity-H"/>
              </a:rPr>
              <a:t>Charge Q </a:t>
            </a:r>
            <a:r>
              <a:rPr lang="en-US" sz="2000" b="0" i="0" u="none" strike="noStrike" baseline="0" dirty="0">
                <a:solidFill>
                  <a:srgbClr val="0F0F0F"/>
                </a:solidFill>
                <a:latin typeface="Fd1262871-Identity-H"/>
              </a:rPr>
              <a:t>= </a:t>
            </a:r>
            <a:r>
              <a:rPr lang="en-US" sz="2400" b="0" i="0" u="none" strike="noStrike" baseline="0" dirty="0">
                <a:solidFill>
                  <a:srgbClr val="0F0F0F"/>
                </a:solidFill>
                <a:latin typeface="Fd990628-Identity-H"/>
              </a:rPr>
              <a:t>I*</a:t>
            </a:r>
            <a:r>
              <a:rPr lang="en-US" sz="2400" b="0" i="0" u="none" strike="noStrike" baseline="0" dirty="0">
                <a:solidFill>
                  <a:srgbClr val="0F0F0F"/>
                </a:solidFill>
                <a:latin typeface="Fd1080981-Identity-H"/>
              </a:rPr>
              <a:t>t   coulomb (C)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0607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26BCE9-DA2E-4C52-8BBF-B6C36A024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64" y="909583"/>
            <a:ext cx="7724249" cy="14764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EE2512-9DC8-4A7D-A7E3-DA59382BC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964" y="3238314"/>
            <a:ext cx="7724249" cy="218463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2664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BCD99-3839-4825-AAE1-15F24B1941E0}"/>
              </a:ext>
            </a:extLst>
          </p:cNvPr>
          <p:cNvSpPr txBox="1"/>
          <p:nvPr/>
        </p:nvSpPr>
        <p:spPr>
          <a:xfrm>
            <a:off x="1117997" y="1044059"/>
            <a:ext cx="5468541" cy="58477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rgbClr val="090909"/>
                </a:solidFill>
                <a:latin typeface="Fd1200752-Identity-H"/>
              </a:rPr>
              <a:t>Energy </a:t>
            </a:r>
            <a:r>
              <a:rPr lang="en-US" sz="3200" b="0" i="0" u="none" strike="noStrike" baseline="0" dirty="0">
                <a:solidFill>
                  <a:srgbClr val="090909"/>
                </a:solidFill>
                <a:latin typeface="Fd1080981-Identity-H"/>
              </a:rPr>
              <a:t>W = V*l*t             joule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D5D87-DD7D-4643-B49E-8A34346EC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9070" y="2171562"/>
            <a:ext cx="11039606" cy="280048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80550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E2D408-CD34-4676-AFF5-4C723E91C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687" y="428590"/>
            <a:ext cx="1795525" cy="9741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00B05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5D1B94-66DA-492B-9497-764AEBC83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2496" y="2044404"/>
            <a:ext cx="11159432" cy="276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3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99376-B57F-44F4-89FD-EA849B418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5903" y="1385716"/>
            <a:ext cx="9222598" cy="3443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58526D-A6EF-4734-A304-9FF7B7F7B4DD}"/>
              </a:ext>
            </a:extLst>
          </p:cNvPr>
          <p:cNvSpPr txBox="1"/>
          <p:nvPr/>
        </p:nvSpPr>
        <p:spPr>
          <a:xfrm>
            <a:off x="4444152" y="569357"/>
            <a:ext cx="2142386" cy="64633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Resistance</a:t>
            </a:r>
          </a:p>
        </p:txBody>
      </p:sp>
    </p:spTree>
    <p:extLst>
      <p:ext uri="{BB962C8B-B14F-4D97-AF65-F5344CB8AC3E}">
        <p14:creationId xmlns:p14="http://schemas.microsoft.com/office/powerpoint/2010/main" val="1481806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64D7FA-929C-4733-B357-51FCB50F3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9719" y="618884"/>
            <a:ext cx="9197004" cy="485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23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C6E7B9-99CC-4BE0-B2D0-3687A23931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6005"/>
          <a:stretch/>
        </p:blipFill>
        <p:spPr>
          <a:xfrm>
            <a:off x="4271721" y="528637"/>
            <a:ext cx="2846442" cy="700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5CB536-9F66-4ECB-AB1A-A1A91D3D5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166" y="1228724"/>
            <a:ext cx="8638767" cy="2209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67676F-3539-4FFF-9145-D3E51096CD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47468" y="3710043"/>
            <a:ext cx="1662239" cy="107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81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069D1-9EBD-4D16-A0FC-DEF5B9F5E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90708" y="299669"/>
            <a:ext cx="4610342" cy="612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5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B96C73-7E6D-49DD-B78C-43418B1AC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419" y="666624"/>
            <a:ext cx="10859929" cy="2548064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800826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99E8A5-C845-4839-895B-D30D8496B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2049" y="414114"/>
            <a:ext cx="11113976" cy="4472211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815766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C0D83-6561-46E1-8A9B-B66CF3402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536" y="666626"/>
            <a:ext cx="10968927" cy="2548062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807189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DC4390-F509-4255-A8FA-BC6F796BC3FF}"/>
              </a:ext>
            </a:extLst>
          </p:cNvPr>
          <p:cNvSpPr txBox="1"/>
          <p:nvPr/>
        </p:nvSpPr>
        <p:spPr>
          <a:xfrm>
            <a:off x="903685" y="501134"/>
            <a:ext cx="7240190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Real Power, Apparent and Reactive powers (AC)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47E7C-D77A-4943-B959-035D93FF0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685" y="1409673"/>
            <a:ext cx="2339578" cy="6544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335BDA-E774-43A5-9BCC-6701E584C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9258" y="1429882"/>
            <a:ext cx="7849824" cy="10704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83305F-4F95-4489-9AD4-9D65AE4AFF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6842" y="2669311"/>
            <a:ext cx="5924832" cy="12407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20369E-8316-4624-84CE-D65FE05822F6}"/>
              </a:ext>
            </a:extLst>
          </p:cNvPr>
          <p:cNvSpPr txBox="1"/>
          <p:nvPr/>
        </p:nvSpPr>
        <p:spPr>
          <a:xfrm>
            <a:off x="746842" y="4337953"/>
            <a:ext cx="5924832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Efficiency</a:t>
            </a:r>
            <a:r>
              <a:rPr lang="en-US" sz="2000" dirty="0"/>
              <a:t> is calculated using Real Power:    (Watt/Watt)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BCBAF2-93A9-4391-BB53-356B113E3F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3594" y="5428118"/>
            <a:ext cx="2455664" cy="9263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087ACE-5111-42A0-BA79-9FFD75F46B3B}"/>
              </a:ext>
            </a:extLst>
          </p:cNvPr>
          <p:cNvSpPr txBox="1"/>
          <p:nvPr/>
        </p:nvSpPr>
        <p:spPr>
          <a:xfrm>
            <a:off x="3957637" y="5706646"/>
            <a:ext cx="1514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Watt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3225" y="3036738"/>
            <a:ext cx="4405858" cy="239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66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525753-6AB3-4F1B-BCDC-452703B10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1458" y="500037"/>
            <a:ext cx="2772626" cy="6143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1FB6C8-92AC-47E3-AAEC-0BFF3061A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1459" y="1709656"/>
            <a:ext cx="9035130" cy="1833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A8C891-72E6-42A0-9760-60CFB082F6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4309" y="4610099"/>
            <a:ext cx="5774885" cy="10906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9194" y="2626478"/>
            <a:ext cx="4047127" cy="219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1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294EA4-1BA5-47A1-867C-F952A910E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7274" y="2465658"/>
            <a:ext cx="6372017" cy="1514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754FF-7540-41E6-8AE2-929FF4306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0514" y="4191992"/>
            <a:ext cx="3614887" cy="103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D320B-3FE3-4048-B0FA-C2C75B974A7B}"/>
              </a:ext>
            </a:extLst>
          </p:cNvPr>
          <p:cNvSpPr txBox="1"/>
          <p:nvPr/>
        </p:nvSpPr>
        <p:spPr>
          <a:xfrm>
            <a:off x="3703395" y="314881"/>
            <a:ext cx="4915488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An electric motor is connected to a 230 V supply.</a:t>
            </a:r>
          </a:p>
          <a:p>
            <a:r>
              <a:rPr lang="en-US" sz="2400" dirty="0"/>
              <a:t>Line current = </a:t>
            </a:r>
            <a:r>
              <a:rPr lang="en-US" sz="2400" b="1" dirty="0"/>
              <a:t>10 A</a:t>
            </a:r>
            <a:endParaRPr lang="en-US" sz="2400" dirty="0"/>
          </a:p>
          <a:p>
            <a:r>
              <a:rPr lang="en-US" sz="2400" dirty="0"/>
              <a:t>Power factor = </a:t>
            </a:r>
            <a:r>
              <a:rPr lang="en-US" sz="2400" b="1" dirty="0"/>
              <a:t>0.6 lagging</a:t>
            </a:r>
            <a:endParaRPr lang="en-US" sz="2400" dirty="0"/>
          </a:p>
          <a:p>
            <a:r>
              <a:rPr lang="en-US" sz="2400" dirty="0"/>
              <a:t>Mechanical output power = </a:t>
            </a:r>
            <a:r>
              <a:rPr lang="en-US" sz="2400" b="1" dirty="0"/>
              <a:t>1,100 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47138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71C08-966C-40FC-A2F2-4E7F35538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7645" y="347639"/>
            <a:ext cx="3244489" cy="5381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AD9D1F-5576-43AD-84D3-13662AA35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2927" y="1464638"/>
            <a:ext cx="7051143" cy="24483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CBF014-250F-41D3-90E0-C86CAECB4753}"/>
              </a:ext>
            </a:extLst>
          </p:cNvPr>
          <p:cNvSpPr txBox="1"/>
          <p:nvPr/>
        </p:nvSpPr>
        <p:spPr>
          <a:xfrm>
            <a:off x="8372474" y="3156466"/>
            <a:ext cx="3414713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Watt/VA = Real/Apparent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7582" y="129833"/>
            <a:ext cx="3642890" cy="197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91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9CA9BE-F7DB-4AA7-8E73-EB7315647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5148" y="774624"/>
            <a:ext cx="4411132" cy="2571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9579F0-715E-4BB2-A5CF-1ABE5F433880}"/>
              </a:ext>
            </a:extLst>
          </p:cNvPr>
          <p:cNvSpPr txBox="1"/>
          <p:nvPr/>
        </p:nvSpPr>
        <p:spPr>
          <a:xfrm>
            <a:off x="1175148" y="315397"/>
            <a:ext cx="26967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rgbClr val="003AA7"/>
                </a:solidFill>
                <a:latin typeface="ItcKabel-Medium"/>
              </a:rPr>
              <a:t>Example (DC)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098A2-7FD1-4F33-8C7B-640FC2567FE7}"/>
              </a:ext>
            </a:extLst>
          </p:cNvPr>
          <p:cNvSpPr txBox="1"/>
          <p:nvPr/>
        </p:nvSpPr>
        <p:spPr>
          <a:xfrm>
            <a:off x="5732862" y="922168"/>
            <a:ext cx="60936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calculate the current </a:t>
            </a:r>
            <a:r>
              <a:rPr lang="en-US" sz="2800" b="0" i="1" u="none" strike="noStrike" baseline="0" dirty="0" err="1">
                <a:latin typeface="Times New Roman" panose="02020603050405020304" pitchFamily="18" charset="0"/>
              </a:rPr>
              <a:t>i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, the conductance</a:t>
            </a:r>
          </a:p>
          <a:p>
            <a:pPr algn="l"/>
            <a:r>
              <a:rPr lang="en-US" sz="2800" b="0" i="1" u="none" strike="noStrike" baseline="0" dirty="0">
                <a:latin typeface="Times New Roman" panose="02020603050405020304" pitchFamily="18" charset="0"/>
              </a:rPr>
              <a:t>G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, and the power </a:t>
            </a:r>
            <a:r>
              <a:rPr lang="en-US" sz="2800" b="0" i="1" u="none" strike="noStrike" baseline="0" dirty="0">
                <a:latin typeface="Times New Roman" panose="02020603050405020304" pitchFamily="18" charset="0"/>
              </a:rPr>
              <a:t>p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.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2D6544-AB81-44C0-9E5E-B828B86A9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72890" y="1876275"/>
            <a:ext cx="5743962" cy="21908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AAAA6E-A8B1-40DF-A704-EA12D5ABC0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4858" y="4300592"/>
            <a:ext cx="6876007" cy="139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78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BA0BFC-0C1D-4C83-94EB-A7F0DACAC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35" y="642554"/>
            <a:ext cx="11144530" cy="397230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260198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E32742-E2AC-423C-B471-19F2DC948F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4529"/>
          <a:stretch/>
        </p:blipFill>
        <p:spPr>
          <a:xfrm>
            <a:off x="185738" y="871537"/>
            <a:ext cx="11738398" cy="332898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E931B5-36E6-420E-9717-4765E1B1E35E}"/>
              </a:ext>
            </a:extLst>
          </p:cNvPr>
          <p:cNvSpPr txBox="1"/>
          <p:nvPr/>
        </p:nvSpPr>
        <p:spPr>
          <a:xfrm>
            <a:off x="8366264" y="1314451"/>
            <a:ext cx="3000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with PF = 1</a:t>
            </a:r>
          </a:p>
        </p:txBody>
      </p:sp>
    </p:spTree>
    <p:extLst>
      <p:ext uri="{BB962C8B-B14F-4D97-AF65-F5344CB8AC3E}">
        <p14:creationId xmlns:p14="http://schemas.microsoft.com/office/powerpoint/2010/main" val="2942655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5246" y="205862"/>
            <a:ext cx="9861779" cy="28324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5533" y="3817610"/>
            <a:ext cx="4547873" cy="860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0851" y="3817610"/>
            <a:ext cx="4665445" cy="10198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815548" y="318052"/>
            <a:ext cx="3935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Resistors Connections</a:t>
            </a:r>
          </a:p>
        </p:txBody>
      </p:sp>
    </p:spTree>
    <p:extLst>
      <p:ext uri="{BB962C8B-B14F-4D97-AF65-F5344CB8AC3E}">
        <p14:creationId xmlns:p14="http://schemas.microsoft.com/office/powerpoint/2010/main" val="459429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A9AD00-7773-420C-AC02-EAD43FCB5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88535" y="62686"/>
            <a:ext cx="3814930" cy="3161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BF22FA-E0A8-40D2-B3B6-BCD804F0F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308" y="3652689"/>
            <a:ext cx="4310584" cy="2648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21EB2C-6246-4ED8-BCF4-8E9E52CBF6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4892" y="4752838"/>
            <a:ext cx="6046780" cy="111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3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E366EC-53CA-425B-AD51-E95C335AC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39" y="447498"/>
            <a:ext cx="5985421" cy="2981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5D90D2-A4E6-44E8-90C9-05CD36B78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044" y="3795637"/>
            <a:ext cx="4368808" cy="144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96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45D1D68-5F69-41AD-9286-CBAC9B437C60}"/>
              </a:ext>
            </a:extLst>
          </p:cNvPr>
          <p:cNvGrpSpPr/>
          <p:nvPr/>
        </p:nvGrpSpPr>
        <p:grpSpPr>
          <a:xfrm>
            <a:off x="642937" y="795208"/>
            <a:ext cx="10482498" cy="5267584"/>
            <a:chOff x="1333264" y="795208"/>
            <a:chExt cx="10482498" cy="52675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187E44F-6152-430B-A173-15E785D12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33264" y="795208"/>
              <a:ext cx="4424055" cy="240519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6D40F6-9D69-4C18-80E2-DF4DF6735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832341" y="3200399"/>
              <a:ext cx="3425899" cy="102643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4D64090-32E5-49AF-AAC7-8EF3E91C0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900612" y="1500155"/>
              <a:ext cx="2630217" cy="6715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709586B-524D-4094-B140-66159F4F4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02405" y="3220564"/>
              <a:ext cx="2704173" cy="87407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9CCA2E-06C6-45E0-A975-61ECB72F7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54561" y="1674225"/>
              <a:ext cx="3261201" cy="204897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E9486BC-F2E9-471C-9363-929945F27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76219" y="4094640"/>
              <a:ext cx="3063017" cy="196815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E67B46C-E2E7-49C2-A464-4E3017099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25462" y="4772026"/>
              <a:ext cx="4174864" cy="874076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785360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A03F6-5B8C-470A-A4AA-A92DB754F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14738" y="63862"/>
            <a:ext cx="6898657" cy="2911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834815-70C7-4C4B-820A-F684334115D5}"/>
              </a:ext>
            </a:extLst>
          </p:cNvPr>
          <p:cNvSpPr txBox="1"/>
          <p:nvPr/>
        </p:nvSpPr>
        <p:spPr>
          <a:xfrm>
            <a:off x="628651" y="137277"/>
            <a:ext cx="2986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 Req.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2C5AF-4C13-45D0-AE1C-368DE5CC1311}"/>
              </a:ext>
            </a:extLst>
          </p:cNvPr>
          <p:cNvSpPr txBox="1"/>
          <p:nvPr/>
        </p:nvSpPr>
        <p:spPr>
          <a:xfrm>
            <a:off x="400050" y="2975118"/>
            <a:ext cx="11401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414042"/>
                </a:solidFill>
                <a:effectLst/>
                <a:latin typeface="Lato" panose="020F0502020204030203" pitchFamily="34" charset="0"/>
              </a:rPr>
              <a:t>Starting from the right hand side and using the simplified equation for two parallel resistors, we can find the equivalent resistance of the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Lato" panose="020F0502020204030203" pitchFamily="34" charset="0"/>
              </a:rPr>
              <a:t>R</a:t>
            </a:r>
            <a:r>
              <a:rPr lang="en-US" sz="2400" b="0" i="0" u="none" strike="noStrike" baseline="-25000" dirty="0">
                <a:solidFill>
                  <a:srgbClr val="414143"/>
                </a:solidFill>
                <a:effectLst/>
                <a:latin typeface="Lato" panose="020F0502020204030203" pitchFamily="34" charset="0"/>
              </a:rPr>
              <a:t>8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Lato" panose="020F0502020204030203" pitchFamily="34" charset="0"/>
              </a:rPr>
              <a:t> to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Lato" panose="020F0502020204030203" pitchFamily="34" charset="0"/>
              </a:rPr>
              <a:t>R</a:t>
            </a:r>
            <a:r>
              <a:rPr lang="en-US" sz="2400" b="0" i="0" u="none" strike="noStrike" baseline="-25000" dirty="0">
                <a:solidFill>
                  <a:srgbClr val="414143"/>
                </a:solidFill>
                <a:effectLst/>
                <a:latin typeface="Lato" panose="020F0502020204030203" pitchFamily="34" charset="0"/>
              </a:rPr>
              <a:t>10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Lato" panose="020F0502020204030203" pitchFamily="34" charset="0"/>
              </a:rPr>
              <a:t> combination and call it </a:t>
            </a:r>
            <a:r>
              <a:rPr lang="en-US" sz="2400" b="0" i="0" u="none" strike="noStrike" dirty="0">
                <a:solidFill>
                  <a:srgbClr val="414143"/>
                </a:solidFill>
                <a:effectLst/>
                <a:latin typeface="Lato" panose="020F0502020204030203" pitchFamily="34" charset="0"/>
              </a:rPr>
              <a:t>R</a:t>
            </a:r>
            <a:r>
              <a:rPr lang="en-US" sz="2400" b="0" i="0" u="none" strike="noStrike" baseline="-25000" dirty="0">
                <a:solidFill>
                  <a:srgbClr val="414143"/>
                </a:solidFill>
                <a:effectLst/>
                <a:latin typeface="Lato" panose="020F0502020204030203" pitchFamily="34" charset="0"/>
              </a:rPr>
              <a:t>A</a:t>
            </a:r>
            <a:r>
              <a:rPr lang="en-US" sz="2400" b="0" i="0" dirty="0">
                <a:solidFill>
                  <a:srgbClr val="414042"/>
                </a:solidFill>
                <a:effectLst/>
                <a:latin typeface="Lato" panose="020F0502020204030203" pitchFamily="34" charset="0"/>
              </a:rPr>
              <a:t>.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EC58A9-193E-4C89-9BC2-75FE99F8A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0525" y="3986666"/>
            <a:ext cx="6963189" cy="2734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E86662-BF7E-4F8D-AFE1-DE22AF2300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5079" y="4941794"/>
            <a:ext cx="4876908" cy="94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64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59250-6CBC-496E-A6AD-93F48345E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693" y="247413"/>
            <a:ext cx="7668119" cy="3679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1F2DC6-3817-40AE-BC9E-B93A1D52F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9957" y="3926457"/>
            <a:ext cx="8269104" cy="200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22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4F50D-CD53-4B47-969E-80506CC57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780" y="466312"/>
            <a:ext cx="7440063" cy="2962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8F0BEC-8BCA-4732-B36E-B91A223B9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780" y="3738464"/>
            <a:ext cx="9775674" cy="187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72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7590FE-2768-4B0B-8D9A-32ED4336F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547" y="332943"/>
            <a:ext cx="7334705" cy="3324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7726F5-BA97-4FD2-BB72-7148C22AB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1539" y="3771900"/>
            <a:ext cx="9362237" cy="172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0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BFCA4C-2BE4-4DBE-B93A-5AF669FF2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3947" y="437943"/>
            <a:ext cx="8730166" cy="358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67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156" y="498213"/>
            <a:ext cx="8324699" cy="343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64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679FE-C166-461D-ABA2-2EADFBC50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391" y="375960"/>
            <a:ext cx="10565099" cy="575337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43567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</TotalTime>
  <Words>192</Words>
  <Application>Microsoft Office PowerPoint</Application>
  <PresentationFormat>Widescreen</PresentationFormat>
  <Paragraphs>27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Calibri</vt:lpstr>
      <vt:lpstr>Calibri Light</vt:lpstr>
      <vt:lpstr>Fd1080981-Identity-H</vt:lpstr>
      <vt:lpstr>Fd1200752-Identity-H</vt:lpstr>
      <vt:lpstr>Fd1262871-Identity-H</vt:lpstr>
      <vt:lpstr>Fd65735-Identity-H</vt:lpstr>
      <vt:lpstr>Fd990628-Identity-H</vt:lpstr>
      <vt:lpstr>ItcKabel-Medium</vt:lpstr>
      <vt:lpstr>Lato</vt:lpstr>
      <vt:lpstr>Times New Roman</vt:lpstr>
      <vt:lpstr>Office Theme</vt:lpstr>
      <vt:lpstr>Electric Circuits</vt:lpstr>
      <vt:lpstr>Text book, and 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Electrical Circuits</dc:title>
  <dc:creator>muawia mohamed</dc:creator>
  <cp:lastModifiedBy>muawia mohamed</cp:lastModifiedBy>
  <cp:revision>61</cp:revision>
  <cp:lastPrinted>2026-06-16T06:12:07Z</cp:lastPrinted>
  <dcterms:created xsi:type="dcterms:W3CDTF">2026-01-09T06:39:08Z</dcterms:created>
  <dcterms:modified xsi:type="dcterms:W3CDTF">2026-09-19T05:41:00Z</dcterms:modified>
</cp:coreProperties>
</file>